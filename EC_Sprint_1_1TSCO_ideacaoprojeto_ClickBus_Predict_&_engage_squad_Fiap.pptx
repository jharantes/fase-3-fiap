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Exo 2" panose="020B0604020202020204" charset="0"/>
      <p:regular r:id="rId15"/>
    </p:embeddedFont>
    <p:embeddedFont>
      <p:font typeface="Exo 2 Bold" panose="020B0604020202020204" charset="0"/>
      <p:regular r:id="rId16"/>
    </p:embeddedFont>
    <p:embeddedFont>
      <p:font typeface="Exo 2 Ultra-Bold" panose="020B0604020202020204" charset="0"/>
      <p:regular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Bold" panose="020B0806030504020204" charset="0"/>
      <p:regular r:id="rId22"/>
      <p:bold r:id="rId23"/>
    </p:embeddedFont>
    <p:embeddedFont>
      <p:font typeface="Roboto Slab" pitchFamily="2" charset="0"/>
      <p:regular r:id="rId24"/>
      <p:bold r:id="rId25"/>
    </p:embeddedFont>
    <p:embeddedFont>
      <p:font typeface="Roboto Slab Bold" panose="020B060402020202020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94"/>
    <a:srgbClr val="E0E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18ADF-32A4-0A57-9D74-30AD263364CB}" v="2" dt="2025-05-20T17:08:19.939"/>
    <p1510:client id="{FC60A96F-AF34-46BA-A0BC-2C5A2E535EBC}" v="13" dt="2025-05-20T00:34:23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90401" y="-1274075"/>
            <a:ext cx="13295695" cy="1329569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4680" t="-645" r="-1628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02107" y="5971874"/>
            <a:ext cx="6764863" cy="82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2594"/>
                </a:solidFill>
                <a:latin typeface="Exo 2"/>
                <a:ea typeface="Exo 2"/>
                <a:cs typeface="Exo 2"/>
                <a:sym typeface="Exo 2"/>
              </a:rPr>
              <a:t>Personalização e Previsibilidade para aumentar a Retenção de Clientes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2738" y="8418535"/>
            <a:ext cx="6237141" cy="186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13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RM563226 - Gabriel Matheus Gonçalves dos Santos</a:t>
            </a:r>
          </a:p>
          <a:p>
            <a:pPr algn="l">
              <a:lnSpc>
                <a:spcPts val="2538"/>
              </a:lnSpc>
            </a:pPr>
            <a:r>
              <a:rPr lang="en-US" sz="1813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RM564212 - João Henrique Arantes Vieira (Representante)</a:t>
            </a:r>
          </a:p>
          <a:p>
            <a:pPr algn="l">
              <a:lnSpc>
                <a:spcPts val="2538"/>
              </a:lnSpc>
            </a:pPr>
            <a:r>
              <a:rPr lang="en-US" sz="1813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RM564228 - João Pedro Crispin Sena</a:t>
            </a:r>
          </a:p>
          <a:p>
            <a:pPr algn="l">
              <a:lnSpc>
                <a:spcPts val="2538"/>
              </a:lnSpc>
            </a:pPr>
            <a:r>
              <a:rPr lang="en-US" sz="1813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RM562638 - Matheus Pereira Nogueira</a:t>
            </a:r>
          </a:p>
          <a:p>
            <a:pPr algn="l">
              <a:lnSpc>
                <a:spcPts val="2538"/>
              </a:lnSpc>
            </a:pPr>
            <a:r>
              <a:rPr lang="en-US" sz="1813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RM562176 - Melissa Aghner Gomes Martins Medeiros</a:t>
            </a:r>
          </a:p>
          <a:p>
            <a:pPr algn="l">
              <a:lnSpc>
                <a:spcPts val="2538"/>
              </a:lnSpc>
            </a:pPr>
            <a:endParaRPr lang="en-US" sz="1813">
              <a:solidFill>
                <a:srgbClr val="00259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742720" y="846122"/>
            <a:ext cx="9519874" cy="4102567"/>
            <a:chOff x="0" y="333375"/>
            <a:chExt cx="12693166" cy="5470090"/>
          </a:xfrm>
        </p:grpSpPr>
        <p:sp>
          <p:nvSpPr>
            <p:cNvPr id="7" name="TextBox 7"/>
            <p:cNvSpPr txBox="1"/>
            <p:nvPr/>
          </p:nvSpPr>
          <p:spPr>
            <a:xfrm>
              <a:off x="0" y="2178541"/>
              <a:ext cx="12693166" cy="36249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56"/>
                </a:lnSpc>
              </a:pPr>
              <a:r>
                <a:rPr lang="en-US" sz="11729" b="1" spc="-258">
                  <a:ln w="38100">
                    <a:solidFill>
                      <a:srgbClr val="002594"/>
                    </a:solidFill>
                  </a:ln>
                  <a:solidFill>
                    <a:srgbClr val="E0E7EB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PREDICT &amp; ENGAGE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33375"/>
              <a:ext cx="12693166" cy="20735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56"/>
                </a:lnSpc>
              </a:pPr>
              <a:r>
                <a:rPr lang="en-US" sz="11729" b="1" spc="-2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CLICKBUS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93796" cy="11847484"/>
          </a:xfrm>
          <a:custGeom>
            <a:avLst/>
            <a:gdLst/>
            <a:ahLst/>
            <a:cxnLst/>
            <a:rect l="l" t="t" r="r" b="b"/>
            <a:pathLst>
              <a:path w="18693796" h="11847484">
                <a:moveTo>
                  <a:pt x="0" y="0"/>
                </a:moveTo>
                <a:lnTo>
                  <a:pt x="18693796" y="0"/>
                </a:lnTo>
                <a:lnTo>
                  <a:pt x="18693796" y="11847484"/>
                </a:lnTo>
                <a:lnTo>
                  <a:pt x="0" y="11847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" b="-2562"/>
            </a:stretch>
          </a:blipFill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/>
          <p:cNvGrpSpPr/>
          <p:nvPr/>
        </p:nvGrpSpPr>
        <p:grpSpPr>
          <a:xfrm>
            <a:off x="7440517" y="6991811"/>
            <a:ext cx="2624460" cy="3295189"/>
            <a:chOff x="0" y="0"/>
            <a:chExt cx="691216" cy="8678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1216" cy="867869"/>
            </a:xfrm>
            <a:custGeom>
              <a:avLst/>
              <a:gdLst/>
              <a:ahLst/>
              <a:cxnLst/>
              <a:rect l="l" t="t" r="r" b="b"/>
              <a:pathLst>
                <a:path w="691216" h="867869">
                  <a:moveTo>
                    <a:pt x="76698" y="0"/>
                  </a:moveTo>
                  <a:lnTo>
                    <a:pt x="614518" y="0"/>
                  </a:lnTo>
                  <a:cubicBezTo>
                    <a:pt x="634860" y="0"/>
                    <a:pt x="654368" y="8081"/>
                    <a:pt x="668752" y="22464"/>
                  </a:cubicBezTo>
                  <a:cubicBezTo>
                    <a:pt x="683135" y="36848"/>
                    <a:pt x="691216" y="56356"/>
                    <a:pt x="691216" y="76698"/>
                  </a:cubicBezTo>
                  <a:lnTo>
                    <a:pt x="691216" y="791171"/>
                  </a:lnTo>
                  <a:cubicBezTo>
                    <a:pt x="691216" y="811513"/>
                    <a:pt x="683135" y="831021"/>
                    <a:pt x="668752" y="845405"/>
                  </a:cubicBezTo>
                  <a:cubicBezTo>
                    <a:pt x="654368" y="859788"/>
                    <a:pt x="634860" y="867869"/>
                    <a:pt x="614518" y="867869"/>
                  </a:cubicBezTo>
                  <a:lnTo>
                    <a:pt x="76698" y="867869"/>
                  </a:lnTo>
                  <a:cubicBezTo>
                    <a:pt x="56356" y="867869"/>
                    <a:pt x="36848" y="859788"/>
                    <a:pt x="22464" y="845405"/>
                  </a:cubicBezTo>
                  <a:cubicBezTo>
                    <a:pt x="8081" y="831021"/>
                    <a:pt x="0" y="811513"/>
                    <a:pt x="0" y="791171"/>
                  </a:cubicBezTo>
                  <a:lnTo>
                    <a:pt x="0" y="76698"/>
                  </a:lnTo>
                  <a:cubicBezTo>
                    <a:pt x="0" y="56356"/>
                    <a:pt x="8081" y="36848"/>
                    <a:pt x="22464" y="22464"/>
                  </a:cubicBezTo>
                  <a:cubicBezTo>
                    <a:pt x="36848" y="8081"/>
                    <a:pt x="56356" y="0"/>
                    <a:pt x="7669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27305"/>
                  </a:srgbClr>
                </a:gs>
                <a:gs pos="100000">
                  <a:srgbClr val="FFFFFF">
                    <a:alpha val="43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691216" cy="963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966101" y="5053873"/>
            <a:ext cx="2679954" cy="267995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35069" y="5053873"/>
            <a:ext cx="2679954" cy="267995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6008" b="-600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54575" y="5143500"/>
            <a:ext cx="2679954" cy="267995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12770" y="5143500"/>
            <a:ext cx="2679954" cy="267995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Freeform 16"/>
          <p:cNvSpPr/>
          <p:nvPr/>
        </p:nvSpPr>
        <p:spPr>
          <a:xfrm>
            <a:off x="6134529" y="8455833"/>
            <a:ext cx="6018942" cy="6018942"/>
          </a:xfrm>
          <a:custGeom>
            <a:avLst/>
            <a:gdLst/>
            <a:ahLst/>
            <a:cxnLst/>
            <a:rect l="l" t="t" r="r" b="b"/>
            <a:pathLst>
              <a:path w="6018942" h="6018942">
                <a:moveTo>
                  <a:pt x="0" y="0"/>
                </a:moveTo>
                <a:lnTo>
                  <a:pt x="6018942" y="0"/>
                </a:lnTo>
                <a:lnTo>
                  <a:pt x="6018942" y="6018942"/>
                </a:lnTo>
                <a:lnTo>
                  <a:pt x="0" y="6018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TextBox 17"/>
          <p:cNvSpPr txBox="1"/>
          <p:nvPr/>
        </p:nvSpPr>
        <p:spPr>
          <a:xfrm>
            <a:off x="-115570" y="8068154"/>
            <a:ext cx="2358181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MELISSA MEDEIROS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00363" y="8145342"/>
            <a:ext cx="2358181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MATHEUS PEREIRA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74677" y="8088762"/>
            <a:ext cx="2000738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CRISPIN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97013" y="8184744"/>
            <a:ext cx="1818127" cy="1002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GABRIEL MATHEUS</a:t>
            </a:r>
          </a:p>
          <a:p>
            <a:pPr algn="ctr">
              <a:lnSpc>
                <a:spcPts val="2640"/>
              </a:lnSpc>
            </a:pPr>
            <a:endParaRPr lang="en-US" sz="2400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919681" y="8145342"/>
            <a:ext cx="1773754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JOÃO BISPO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342042" y="98805"/>
            <a:ext cx="12929032" cy="2041330"/>
            <a:chOff x="0" y="276225"/>
            <a:chExt cx="17238710" cy="2721773"/>
          </a:xfrm>
        </p:grpSpPr>
        <p:sp>
          <p:nvSpPr>
            <p:cNvPr id="28" name="TextBox 28"/>
            <p:cNvSpPr txBox="1"/>
            <p:nvPr/>
          </p:nvSpPr>
          <p:spPr>
            <a:xfrm>
              <a:off x="0" y="1493313"/>
              <a:ext cx="17238710" cy="1504685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800"/>
                </a:lnSpc>
              </a:pPr>
              <a:r>
                <a:rPr lang="en-US" sz="9778" b="1" spc="-215">
                  <a:ln w="38100">
                    <a:solidFill>
                      <a:schemeClr val="bg1">
                        <a:lumMod val="95000"/>
                      </a:schemeClr>
                    </a:solidFill>
                  </a:ln>
                  <a:solidFill>
                    <a:srgbClr val="FFFFFF">
                      <a:alpha val="0"/>
                    </a:srgbClr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PASSAGEIROS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276225"/>
              <a:ext cx="17238710" cy="1703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00"/>
                </a:lnSpc>
              </a:pPr>
              <a:endParaRPr/>
            </a:p>
          </p:txBody>
        </p:sp>
      </p:grpSp>
      <p:pic>
        <p:nvPicPr>
          <p:cNvPr id="37" name="Imagem 36" descr="Homem de terno e gravata em frente a espelho&#10;&#10;O conteúdo gerado por IA pode estar incorreto.">
            <a:extLst>
              <a:ext uri="{FF2B5EF4-FFF2-40B4-BE49-F238E27FC236}">
                <a16:creationId xmlns:a16="http://schemas.microsoft.com/office/drawing/2014/main" id="{62127A08-1C4C-D1F1-F0C3-8390230691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195" y="5143500"/>
            <a:ext cx="2653203" cy="265734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9" name="Imagem 38" descr="Mulher com cabelos longos&#10;&#10;O conteúdo gerado por IA pode estar incorreto.">
            <a:extLst>
              <a:ext uri="{FF2B5EF4-FFF2-40B4-BE49-F238E27FC236}">
                <a16:creationId xmlns:a16="http://schemas.microsoft.com/office/drawing/2014/main" id="{EC150B9E-C40E-63E3-1E1C-0B238E46317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706" y="5053873"/>
            <a:ext cx="2773978" cy="277397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1" name="Imagem 40" descr="Rosto de homem visto de perto&#10;&#10;O conteúdo gerado por IA pode estar incorreto.">
            <a:extLst>
              <a:ext uri="{FF2B5EF4-FFF2-40B4-BE49-F238E27FC236}">
                <a16:creationId xmlns:a16="http://schemas.microsoft.com/office/drawing/2014/main" id="{18443B46-3CCD-9F55-765B-C0234C99E87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521" y="4931571"/>
            <a:ext cx="2653203" cy="29603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3944" y="3879033"/>
            <a:ext cx="8785076" cy="3710988"/>
            <a:chOff x="0" y="0"/>
            <a:chExt cx="11713435" cy="494798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1713435" cy="4947984"/>
              <a:chOff x="0" y="0"/>
              <a:chExt cx="2506094" cy="10586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06095" cy="1058623"/>
              </a:xfrm>
              <a:custGeom>
                <a:avLst/>
                <a:gdLst/>
                <a:ahLst/>
                <a:cxnLst/>
                <a:rect l="l" t="t" r="r" b="b"/>
                <a:pathLst>
                  <a:path w="2506095" h="1058623">
                    <a:moveTo>
                      <a:pt x="0" y="0"/>
                    </a:moveTo>
                    <a:lnTo>
                      <a:pt x="2506095" y="0"/>
                    </a:lnTo>
                    <a:lnTo>
                      <a:pt x="2506095" y="1058623"/>
                    </a:lnTo>
                    <a:lnTo>
                      <a:pt x="0" y="10586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95250"/>
                <a:ext cx="2506094" cy="11538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70650" y="-38100"/>
              <a:ext cx="10972135" cy="49860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7"/>
                </a:lnSpc>
              </a:pPr>
              <a:r>
                <a:rPr lang="en-US" sz="2398">
                  <a:solidFill>
                    <a:srgbClr val="002594"/>
                  </a:solidFill>
                  <a:latin typeface="Open Sans"/>
                  <a:ea typeface="Open Sans"/>
                  <a:cs typeface="Open Sans"/>
                  <a:sym typeface="Open Sans"/>
                </a:rPr>
                <a:t>    A ClickBus é uma plataforma intermediária na venda de passagens de ônibus, conectando passageiros às aviações parceiras. No entanto, um dos desafios enfrentados pela empresa é a retenção de clientes e a previsibilidade de recompra. Muitos consumidores, após uma experiência negativa, podem optar por não usar o serviço novamente, enquanto outros podem perder oportunidades de viagens relevantes por falta de recomendações adequadas.</a:t>
              </a:r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256" y="-157810"/>
            <a:ext cx="7518443" cy="1112714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1296545" y="932330"/>
            <a:ext cx="9519874" cy="1515211"/>
            <a:chOff x="0" y="209550"/>
            <a:chExt cx="12693166" cy="2020281"/>
          </a:xfrm>
        </p:grpSpPr>
        <p:sp>
          <p:nvSpPr>
            <p:cNvPr id="9" name="TextBox 9"/>
            <p:cNvSpPr txBox="1"/>
            <p:nvPr/>
          </p:nvSpPr>
          <p:spPr>
            <a:xfrm>
              <a:off x="0" y="1118415"/>
              <a:ext cx="12693166" cy="1111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ln w="38100">
                    <a:solidFill>
                      <a:srgbClr val="002594"/>
                    </a:solidFill>
                  </a:ln>
                  <a:solidFill>
                    <a:srgbClr val="E0E7EB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DO PROBLEMA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09550"/>
              <a:ext cx="12693166" cy="1261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CONTEXTUALIZAÇÃO</a:t>
              </a:r>
            </a:p>
          </p:txBody>
        </p:sp>
      </p:grp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1994" y="4501041"/>
            <a:ext cx="829857" cy="82985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2594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1994" y="7137023"/>
            <a:ext cx="829857" cy="82985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2594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922347" y="2704774"/>
            <a:ext cx="9209896" cy="7517578"/>
          </a:xfrm>
          <a:custGeom>
            <a:avLst/>
            <a:gdLst/>
            <a:ahLst/>
            <a:cxnLst/>
            <a:rect l="l" t="t" r="r" b="b"/>
            <a:pathLst>
              <a:path w="9209896" h="7517578">
                <a:moveTo>
                  <a:pt x="0" y="0"/>
                </a:moveTo>
                <a:lnTo>
                  <a:pt x="9209896" y="0"/>
                </a:lnTo>
                <a:lnTo>
                  <a:pt x="9209896" y="7517578"/>
                </a:lnTo>
                <a:lnTo>
                  <a:pt x="0" y="751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2461825" y="4415316"/>
            <a:ext cx="6250972" cy="769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6"/>
              </a:lnSpc>
            </a:pPr>
            <a:r>
              <a:rPr lang="en-US" sz="4447" b="1">
                <a:solidFill>
                  <a:srgbClr val="002594"/>
                </a:solidFill>
                <a:latin typeface="Exo 2 Bold"/>
                <a:ea typeface="Exo 2 Bold"/>
                <a:cs typeface="Exo 2 Bold"/>
                <a:sym typeface="Exo 2 Bold"/>
              </a:rPr>
              <a:t>Previsão de Recompra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70374" y="5137186"/>
            <a:ext cx="5170114" cy="405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0">
                <a:solidFill>
                  <a:srgbClr val="002594"/>
                </a:solidFill>
                <a:latin typeface="Exo 2"/>
                <a:ea typeface="Exo 2"/>
                <a:cs typeface="Exo 2"/>
                <a:sym typeface="Exo 2"/>
              </a:rPr>
              <a:t>Como antecipar a decisão do cliente?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70374" y="6974327"/>
            <a:ext cx="4230239" cy="769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6"/>
              </a:lnSpc>
            </a:pPr>
            <a:r>
              <a:rPr lang="en-US" sz="4447" b="1">
                <a:solidFill>
                  <a:srgbClr val="002594"/>
                </a:solidFill>
                <a:latin typeface="Exo 2 Bold"/>
                <a:ea typeface="Exo 2 Bold"/>
                <a:cs typeface="Exo 2 Bold"/>
                <a:sym typeface="Exo 2 Bold"/>
              </a:rPr>
              <a:t>Personalização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54961" y="7696196"/>
            <a:ext cx="5420039" cy="82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0">
                <a:solidFill>
                  <a:srgbClr val="002594"/>
                </a:solidFill>
                <a:latin typeface="Exo 2"/>
                <a:ea typeface="Exo 2"/>
                <a:cs typeface="Exo 2"/>
                <a:sym typeface="Exo 2"/>
              </a:rPr>
              <a:t>Como customizar ofertas para aumentar vendas?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5289" y="4750532"/>
            <a:ext cx="1206536" cy="843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5908" b="1">
                <a:solidFill>
                  <a:srgbClr val="002594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5289" y="7386514"/>
            <a:ext cx="1206536" cy="843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5908" b="1">
                <a:solidFill>
                  <a:srgbClr val="002594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27374" y="1065864"/>
            <a:ext cx="9519874" cy="1520926"/>
            <a:chOff x="0" y="209550"/>
            <a:chExt cx="12693166" cy="2027901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26035"/>
              <a:ext cx="12693166" cy="1111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ln w="38100">
                    <a:solidFill>
                      <a:srgbClr val="002594"/>
                    </a:solidFill>
                  </a:ln>
                  <a:solidFill>
                    <a:srgbClr val="E0E7EB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SER RESOLVIDO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09550"/>
              <a:ext cx="12693166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PROBLEMA A</a:t>
              </a:r>
            </a:p>
          </p:txBody>
        </p:sp>
      </p:grp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864" y="3285907"/>
            <a:ext cx="3899647" cy="4359851"/>
            <a:chOff x="0" y="0"/>
            <a:chExt cx="3607019" cy="4032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07019" cy="4032690"/>
            </a:xfrm>
            <a:custGeom>
              <a:avLst/>
              <a:gdLst/>
              <a:ahLst/>
              <a:cxnLst/>
              <a:rect l="l" t="t" r="r" b="b"/>
              <a:pathLst>
                <a:path w="3607019" h="4032690">
                  <a:moveTo>
                    <a:pt x="3482559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82559" y="0"/>
                  </a:lnTo>
                  <a:cubicBezTo>
                    <a:pt x="3551139" y="0"/>
                    <a:pt x="3607019" y="55880"/>
                    <a:pt x="3607019" y="124460"/>
                  </a:cubicBezTo>
                  <a:lnTo>
                    <a:pt x="3607019" y="3908229"/>
                  </a:lnTo>
                  <a:cubicBezTo>
                    <a:pt x="3607019" y="3976809"/>
                    <a:pt x="3551139" y="4032690"/>
                    <a:pt x="3482559" y="40326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987072" y="3285907"/>
            <a:ext cx="3899647" cy="4359851"/>
            <a:chOff x="0" y="0"/>
            <a:chExt cx="3607019" cy="40326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7019" cy="4032690"/>
            </a:xfrm>
            <a:custGeom>
              <a:avLst/>
              <a:gdLst/>
              <a:ahLst/>
              <a:cxnLst/>
              <a:rect l="l" t="t" r="r" b="b"/>
              <a:pathLst>
                <a:path w="3607019" h="4032690">
                  <a:moveTo>
                    <a:pt x="3482559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82559" y="0"/>
                  </a:lnTo>
                  <a:cubicBezTo>
                    <a:pt x="3551139" y="0"/>
                    <a:pt x="3607019" y="55880"/>
                    <a:pt x="3607019" y="124460"/>
                  </a:cubicBezTo>
                  <a:lnTo>
                    <a:pt x="3607019" y="3908229"/>
                  </a:lnTo>
                  <a:cubicBezTo>
                    <a:pt x="3607019" y="3976809"/>
                    <a:pt x="3551139" y="4032690"/>
                    <a:pt x="3482559" y="40326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01281" y="3285907"/>
            <a:ext cx="3899647" cy="4359851"/>
            <a:chOff x="0" y="0"/>
            <a:chExt cx="3607019" cy="40326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7019" cy="4032690"/>
            </a:xfrm>
            <a:custGeom>
              <a:avLst/>
              <a:gdLst/>
              <a:ahLst/>
              <a:cxnLst/>
              <a:rect l="l" t="t" r="r" b="b"/>
              <a:pathLst>
                <a:path w="3607019" h="4032690">
                  <a:moveTo>
                    <a:pt x="3482559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82559" y="0"/>
                  </a:lnTo>
                  <a:cubicBezTo>
                    <a:pt x="3551139" y="0"/>
                    <a:pt x="3607019" y="55880"/>
                    <a:pt x="3607019" y="124460"/>
                  </a:cubicBezTo>
                  <a:lnTo>
                    <a:pt x="3607019" y="3908229"/>
                  </a:lnTo>
                  <a:cubicBezTo>
                    <a:pt x="3607019" y="3976809"/>
                    <a:pt x="3551139" y="4032690"/>
                    <a:pt x="3482559" y="40326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15489" y="3285907"/>
            <a:ext cx="3899647" cy="4359851"/>
            <a:chOff x="0" y="0"/>
            <a:chExt cx="3607019" cy="40326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7019" cy="4032690"/>
            </a:xfrm>
            <a:custGeom>
              <a:avLst/>
              <a:gdLst/>
              <a:ahLst/>
              <a:cxnLst/>
              <a:rect l="l" t="t" r="r" b="b"/>
              <a:pathLst>
                <a:path w="3607019" h="4032690">
                  <a:moveTo>
                    <a:pt x="3482559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82559" y="0"/>
                  </a:lnTo>
                  <a:cubicBezTo>
                    <a:pt x="3551139" y="0"/>
                    <a:pt x="3607019" y="55880"/>
                    <a:pt x="3607019" y="124460"/>
                  </a:cubicBezTo>
                  <a:lnTo>
                    <a:pt x="3607019" y="3908229"/>
                  </a:lnTo>
                  <a:cubicBezTo>
                    <a:pt x="3607019" y="3976809"/>
                    <a:pt x="3551139" y="4032690"/>
                    <a:pt x="3482559" y="40326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Freeform 10"/>
          <p:cNvSpPr/>
          <p:nvPr/>
        </p:nvSpPr>
        <p:spPr>
          <a:xfrm>
            <a:off x="7574796" y="7071672"/>
            <a:ext cx="2203492" cy="2250575"/>
          </a:xfrm>
          <a:custGeom>
            <a:avLst/>
            <a:gdLst/>
            <a:ahLst/>
            <a:cxnLst/>
            <a:rect l="l" t="t" r="r" b="b"/>
            <a:pathLst>
              <a:path w="2203492" h="2250575">
                <a:moveTo>
                  <a:pt x="0" y="0"/>
                </a:moveTo>
                <a:lnTo>
                  <a:pt x="2203492" y="0"/>
                </a:lnTo>
                <a:lnTo>
                  <a:pt x="2203492" y="2250575"/>
                </a:lnTo>
                <a:lnTo>
                  <a:pt x="0" y="2250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572864" y="3780991"/>
            <a:ext cx="3899647" cy="90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0025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Usuários ClickBus</a:t>
            </a:r>
          </a:p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endParaRPr lang="en-US" sz="2799" b="1">
              <a:solidFill>
                <a:srgbClr val="00259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9530" y="5290497"/>
            <a:ext cx="305893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en-US" sz="1500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Pessoas que já utilizaram o serviço e podem ser reconectadas por meio de ofertas personalizadas.</a:t>
            </a:r>
          </a:p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endParaRPr lang="en-US" sz="1500">
              <a:solidFill>
                <a:srgbClr val="00259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408893" y="3780991"/>
            <a:ext cx="3058938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0025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Viajantes digitais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97250" y="5290497"/>
            <a:ext cx="3479292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en-US" sz="1500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Usuários que pesquisam e compram passagens online e são sensíveis a experiências personalizadas.</a:t>
            </a:r>
          </a:p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endParaRPr lang="en-US" sz="1500">
              <a:solidFill>
                <a:srgbClr val="00259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508688" y="3763211"/>
            <a:ext cx="3684833" cy="90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0025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Consumidores de eventos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21635" y="5290497"/>
            <a:ext cx="305893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en-US" sz="1500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Viajantes motivados por eventos específicos a seu gosto e dispostos a considerar sugestões inteligentes de viagem.</a:t>
            </a:r>
          </a:p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endParaRPr lang="en-US" sz="1500">
              <a:solidFill>
                <a:srgbClr val="00259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920053" y="3570171"/>
            <a:ext cx="3690309" cy="1821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0025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Clientes com histórico de viagens identificável</a:t>
            </a:r>
          </a:p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endParaRPr lang="en-US" sz="2799" b="1">
              <a:solidFill>
                <a:srgbClr val="00259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235844" y="5290497"/>
            <a:ext cx="305893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en-US" sz="1500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Perfis com dados comportamentais que possibilitam previsões de recompra e personalização efetiva.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295615" y="989772"/>
            <a:ext cx="9519874" cy="1520926"/>
            <a:chOff x="0" y="209550"/>
            <a:chExt cx="12693166" cy="2027901"/>
          </a:xfrm>
        </p:grpSpPr>
        <p:sp>
          <p:nvSpPr>
            <p:cNvPr id="20" name="TextBox 20"/>
            <p:cNvSpPr txBox="1"/>
            <p:nvPr/>
          </p:nvSpPr>
          <p:spPr>
            <a:xfrm>
              <a:off x="0" y="1126035"/>
              <a:ext cx="12693166" cy="1111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ln w="38100">
                    <a:solidFill>
                      <a:srgbClr val="002594"/>
                    </a:solidFill>
                  </a:ln>
                  <a:solidFill>
                    <a:srgbClr val="002594">
                      <a:alpha val="0"/>
                    </a:srgbClr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ALVO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209550"/>
              <a:ext cx="12693166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PÚBLICO</a:t>
              </a:r>
            </a:p>
          </p:txBody>
        </p:sp>
      </p:grp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647116" y="3359252"/>
            <a:ext cx="10640884" cy="6927748"/>
          </a:xfrm>
          <a:custGeom>
            <a:avLst/>
            <a:gdLst/>
            <a:ahLst/>
            <a:cxnLst/>
            <a:rect l="l" t="t" r="r" b="b"/>
            <a:pathLst>
              <a:path w="10640884" h="6927748">
                <a:moveTo>
                  <a:pt x="10640884" y="0"/>
                </a:moveTo>
                <a:lnTo>
                  <a:pt x="0" y="0"/>
                </a:lnTo>
                <a:lnTo>
                  <a:pt x="0" y="6927748"/>
                </a:lnTo>
                <a:lnTo>
                  <a:pt x="10640884" y="6927748"/>
                </a:lnTo>
                <a:lnTo>
                  <a:pt x="10640884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572187">
            <a:off x="13896755" y="2500067"/>
            <a:ext cx="696889" cy="1390094"/>
          </a:xfrm>
          <a:custGeom>
            <a:avLst/>
            <a:gdLst/>
            <a:ahLst/>
            <a:cxnLst/>
            <a:rect l="l" t="t" r="r" b="b"/>
            <a:pathLst>
              <a:path w="696889" h="1390094">
                <a:moveTo>
                  <a:pt x="0" y="0"/>
                </a:moveTo>
                <a:lnTo>
                  <a:pt x="696889" y="0"/>
                </a:lnTo>
                <a:lnTo>
                  <a:pt x="696889" y="1390094"/>
                </a:lnTo>
                <a:lnTo>
                  <a:pt x="0" y="1390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335052" y="1185863"/>
            <a:ext cx="9519874" cy="1520926"/>
            <a:chOff x="0" y="209550"/>
            <a:chExt cx="12693166" cy="2027901"/>
          </a:xfrm>
        </p:grpSpPr>
        <p:sp>
          <p:nvSpPr>
            <p:cNvPr id="5" name="TextBox 5"/>
            <p:cNvSpPr txBox="1"/>
            <p:nvPr/>
          </p:nvSpPr>
          <p:spPr>
            <a:xfrm>
              <a:off x="0" y="1126035"/>
              <a:ext cx="12693166" cy="1111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ln w="38100">
                    <a:solidFill>
                      <a:srgbClr val="002594"/>
                    </a:solidFill>
                  </a:ln>
                  <a:solidFill>
                    <a:srgbClr val="002594">
                      <a:alpha val="0"/>
                    </a:srgbClr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ESTES PROBLEMAS 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9550"/>
              <a:ext cx="12693166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COMO SOLUCIONAR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1735745">
            <a:off x="14643496" y="2044355"/>
            <a:ext cx="936978" cy="1869005"/>
          </a:xfrm>
          <a:custGeom>
            <a:avLst/>
            <a:gdLst/>
            <a:ahLst/>
            <a:cxnLst/>
            <a:rect l="l" t="t" r="r" b="b"/>
            <a:pathLst>
              <a:path w="936978" h="1869005">
                <a:moveTo>
                  <a:pt x="0" y="0"/>
                </a:moveTo>
                <a:lnTo>
                  <a:pt x="936979" y="0"/>
                </a:lnTo>
                <a:lnTo>
                  <a:pt x="936979" y="1869004"/>
                </a:lnTo>
                <a:lnTo>
                  <a:pt x="0" y="1869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 rot="3002052">
            <a:off x="14793408" y="3211992"/>
            <a:ext cx="637155" cy="1270943"/>
          </a:xfrm>
          <a:custGeom>
            <a:avLst/>
            <a:gdLst/>
            <a:ahLst/>
            <a:cxnLst/>
            <a:rect l="l" t="t" r="r" b="b"/>
            <a:pathLst>
              <a:path w="637155" h="1270943">
                <a:moveTo>
                  <a:pt x="0" y="0"/>
                </a:moveTo>
                <a:lnTo>
                  <a:pt x="637155" y="0"/>
                </a:lnTo>
                <a:lnTo>
                  <a:pt x="637155" y="1270943"/>
                </a:lnTo>
                <a:lnTo>
                  <a:pt x="0" y="12709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43050" y="906063"/>
            <a:ext cx="3086100" cy="1522852"/>
            <a:chOff x="0" y="0"/>
            <a:chExt cx="812800" cy="401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01080"/>
            </a:xfrm>
            <a:custGeom>
              <a:avLst/>
              <a:gdLst/>
              <a:ahLst/>
              <a:cxnLst/>
              <a:rect l="l" t="t" r="r" b="b"/>
              <a:pathLst>
                <a:path w="812800" h="401080">
                  <a:moveTo>
                    <a:pt x="0" y="0"/>
                  </a:moveTo>
                  <a:lnTo>
                    <a:pt x="609600" y="0"/>
                  </a:lnTo>
                  <a:lnTo>
                    <a:pt x="812800" y="200540"/>
                  </a:lnTo>
                  <a:lnTo>
                    <a:pt x="609600" y="401080"/>
                  </a:lnTo>
                  <a:lnTo>
                    <a:pt x="0" y="401080"/>
                  </a:lnTo>
                  <a:lnTo>
                    <a:pt x="203200" y="200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" y="-95250"/>
              <a:ext cx="558800" cy="496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43050" y="2817926"/>
            <a:ext cx="3654902" cy="4766842"/>
          </a:xfrm>
          <a:custGeom>
            <a:avLst/>
            <a:gdLst/>
            <a:ahLst/>
            <a:cxnLst/>
            <a:rect l="l" t="t" r="r" b="b"/>
            <a:pathLst>
              <a:path w="3654902" h="4766842">
                <a:moveTo>
                  <a:pt x="0" y="0"/>
                </a:moveTo>
                <a:lnTo>
                  <a:pt x="3654902" y="0"/>
                </a:lnTo>
                <a:lnTo>
                  <a:pt x="3654902" y="4766843"/>
                </a:lnTo>
                <a:lnTo>
                  <a:pt x="0" y="4766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5797" y="2509151"/>
            <a:ext cx="4293018" cy="5720210"/>
          </a:xfrm>
          <a:prstGeom prst="rect">
            <a:avLst/>
          </a:prstGeom>
        </p:spPr>
      </p:pic>
      <p:sp>
        <p:nvSpPr>
          <p:cNvPr id="7" name="Freeform 7"/>
          <p:cNvSpPr/>
          <p:nvPr/>
        </p:nvSpPr>
        <p:spPr>
          <a:xfrm>
            <a:off x="6713500" y="2817926"/>
            <a:ext cx="4513432" cy="4766842"/>
          </a:xfrm>
          <a:custGeom>
            <a:avLst/>
            <a:gdLst/>
            <a:ahLst/>
            <a:cxnLst/>
            <a:rect l="l" t="t" r="r" b="b"/>
            <a:pathLst>
              <a:path w="4513432" h="4766842">
                <a:moveTo>
                  <a:pt x="0" y="0"/>
                </a:moveTo>
                <a:lnTo>
                  <a:pt x="4513432" y="0"/>
                </a:lnTo>
                <a:lnTo>
                  <a:pt x="4513432" y="4766843"/>
                </a:lnTo>
                <a:lnTo>
                  <a:pt x="0" y="4766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40" r="-16984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8" name="Group 8"/>
          <p:cNvGrpSpPr/>
          <p:nvPr/>
        </p:nvGrpSpPr>
        <p:grpSpPr>
          <a:xfrm>
            <a:off x="1026178" y="7837170"/>
            <a:ext cx="16233122" cy="1421130"/>
            <a:chOff x="0" y="0"/>
            <a:chExt cx="21644162" cy="1894840"/>
          </a:xfrm>
        </p:grpSpPr>
        <p:sp>
          <p:nvSpPr>
            <p:cNvPr id="9" name="TextBox 9"/>
            <p:cNvSpPr txBox="1"/>
            <p:nvPr/>
          </p:nvSpPr>
          <p:spPr>
            <a:xfrm>
              <a:off x="7458340" y="0"/>
              <a:ext cx="5843014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3399" b="1">
                  <a:solidFill>
                    <a:srgbClr val="002594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ALGORITIMO ML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14836" y="666750"/>
              <a:ext cx="5846383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0"/>
                </a:lnSpc>
              </a:pPr>
              <a:r>
                <a:rPr lang="en-US" sz="2400">
                  <a:solidFill>
                    <a:srgbClr val="002594"/>
                  </a:solidFill>
                  <a:latin typeface="Exo 2"/>
                  <a:ea typeface="Exo 2"/>
                  <a:cs typeface="Exo 2"/>
                  <a:sym typeface="Exo 2"/>
                </a:rPr>
                <a:t>Previsão precisa da probabilidade de recompra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04154" y="0"/>
              <a:ext cx="7440008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3399" b="1">
                  <a:solidFill>
                    <a:srgbClr val="002594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INTERESSES DO USUÁRIO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812770" y="666750"/>
              <a:ext cx="6222775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0"/>
                </a:lnSpc>
              </a:pPr>
              <a:r>
                <a:rPr lang="en-US" sz="2400">
                  <a:solidFill>
                    <a:srgbClr val="002594"/>
                  </a:solidFill>
                  <a:latin typeface="Exo 2"/>
                  <a:ea typeface="Exo 2"/>
                  <a:cs typeface="Exo 2"/>
                  <a:sym typeface="Exo 2"/>
                </a:rPr>
                <a:t>Dados comportamentais incorporados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6555541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3399" b="1">
                  <a:solidFill>
                    <a:srgbClr val="002594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HISTORICO DE VIAGENS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4579" y="666750"/>
              <a:ext cx="5918858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0"/>
                </a:lnSpc>
              </a:pPr>
              <a:r>
                <a:rPr lang="en-US" sz="2400">
                  <a:solidFill>
                    <a:srgbClr val="002594"/>
                  </a:solidFill>
                  <a:latin typeface="Exo 2"/>
                  <a:ea typeface="Exo 2"/>
                  <a:cs typeface="Exo 2"/>
                  <a:sym typeface="Exo 2"/>
                </a:rPr>
                <a:t>Análise da frequência e padrões de compra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6545" y="926615"/>
            <a:ext cx="9519874" cy="1520926"/>
            <a:chOff x="0" y="209550"/>
            <a:chExt cx="12693166" cy="2027901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26035"/>
              <a:ext cx="12693166" cy="1111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ln w="38100">
                    <a:solidFill>
                      <a:srgbClr val="002594"/>
                    </a:solidFill>
                  </a:ln>
                  <a:solidFill>
                    <a:srgbClr val="002594">
                      <a:alpha val="0"/>
                    </a:srgbClr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DE RECOMPRA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09550"/>
              <a:ext cx="12693166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MODELO PREDITIVO</a:t>
              </a:r>
            </a:p>
          </p:txBody>
        </p:sp>
      </p:grp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24476" y="3813408"/>
            <a:ext cx="9171634" cy="1398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4036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Questionário sobre destinos favoritos e viagens anteriores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04645" y="3108797"/>
            <a:ext cx="1319831" cy="1092577"/>
            <a:chOff x="0" y="0"/>
            <a:chExt cx="1759774" cy="145676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06476" cy="1106476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95250"/>
                <a:ext cx="812800" cy="908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51059" y="313604"/>
              <a:ext cx="1608715" cy="1143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99"/>
                </a:lnSpc>
              </a:pPr>
              <a:r>
                <a:rPr lang="en-US" sz="5908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4645" y="6588498"/>
            <a:ext cx="1319831" cy="1092577"/>
            <a:chOff x="0" y="0"/>
            <a:chExt cx="1759774" cy="145676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106476" cy="1106476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95250"/>
                <a:ext cx="812800" cy="908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51059" y="313604"/>
              <a:ext cx="1608715" cy="1143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99"/>
                </a:lnSpc>
              </a:pPr>
              <a:r>
                <a:rPr lang="en-US" sz="5908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2.</a:t>
              </a:r>
            </a:p>
          </p:txBody>
        </p: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933" y="799141"/>
            <a:ext cx="10308558" cy="10817375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324475" y="3013547"/>
            <a:ext cx="6824457" cy="876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78"/>
              </a:lnSpc>
            </a:pPr>
            <a:r>
              <a:rPr lang="en-US" sz="5127" b="1" err="1">
                <a:solidFill>
                  <a:srgbClr val="0025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Interação</a:t>
            </a:r>
            <a:r>
              <a:rPr lang="en-US" sz="5127" b="1">
                <a:solidFill>
                  <a:srgbClr val="0025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do </a:t>
            </a:r>
            <a:r>
              <a:rPr lang="en-US" sz="5127" b="1" err="1">
                <a:solidFill>
                  <a:srgbClr val="0025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Usuário</a:t>
            </a:r>
            <a:endParaRPr lang="en-US" sz="5127" b="1">
              <a:solidFill>
                <a:srgbClr val="00259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324476" y="6483723"/>
            <a:ext cx="6819524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 b="1">
                <a:solidFill>
                  <a:srgbClr val="0025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Cruzamento de Dado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24476" y="7287633"/>
            <a:ext cx="7725905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Relaciona preferências com eventos futuros relevantes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56009" y="926615"/>
            <a:ext cx="9519874" cy="1520926"/>
            <a:chOff x="0" y="209550"/>
            <a:chExt cx="12693166" cy="2027901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126035"/>
              <a:ext cx="12693166" cy="1111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ln w="38100">
                    <a:solidFill>
                      <a:srgbClr val="002594"/>
                    </a:solidFill>
                  </a:ln>
                  <a:solidFill>
                    <a:srgbClr val="002594">
                      <a:alpha val="0"/>
                    </a:srgbClr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PREFERÊNCIAS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09550"/>
              <a:ext cx="12693166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ENQUETE DE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1543050" y="906063"/>
            <a:ext cx="3086100" cy="1522852"/>
            <a:chOff x="0" y="0"/>
            <a:chExt cx="812800" cy="401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401080"/>
            </a:xfrm>
            <a:custGeom>
              <a:avLst/>
              <a:gdLst/>
              <a:ahLst/>
              <a:cxnLst/>
              <a:rect l="l" t="t" r="r" b="b"/>
              <a:pathLst>
                <a:path w="812800" h="401080">
                  <a:moveTo>
                    <a:pt x="0" y="0"/>
                  </a:moveTo>
                  <a:lnTo>
                    <a:pt x="609600" y="0"/>
                  </a:lnTo>
                  <a:lnTo>
                    <a:pt x="812800" y="200540"/>
                  </a:lnTo>
                  <a:lnTo>
                    <a:pt x="609600" y="401080"/>
                  </a:lnTo>
                  <a:lnTo>
                    <a:pt x="0" y="401080"/>
                  </a:lnTo>
                  <a:lnTo>
                    <a:pt x="203200" y="200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7800" y="-95250"/>
              <a:ext cx="558800" cy="496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40"/>
                </a:lnSpc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3629" y="3803883"/>
            <a:ext cx="5305574" cy="77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4449" b="1">
                <a:solidFill>
                  <a:srgbClr val="002594"/>
                </a:solidFill>
                <a:latin typeface="Exo 2 Bold"/>
                <a:ea typeface="Exo 2 Bold"/>
                <a:cs typeface="Exo 2 Bold"/>
                <a:sym typeface="Exo 2 Bold"/>
              </a:rPr>
              <a:t>Base de Eventos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13231" y="6001139"/>
            <a:ext cx="7073205" cy="77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4449" b="1">
                <a:solidFill>
                  <a:srgbClr val="002594"/>
                </a:solidFill>
                <a:latin typeface="Exo 2 Bold"/>
                <a:ea typeface="Exo 2 Bold"/>
                <a:cs typeface="Exo 2 Bold"/>
                <a:sym typeface="Exo 2 Bold"/>
              </a:rPr>
              <a:t>Detecção Automática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8118" y="8196969"/>
            <a:ext cx="7600504" cy="77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4449" b="1">
                <a:solidFill>
                  <a:srgbClr val="002594"/>
                </a:solidFill>
                <a:latin typeface="Exo 2 Bold"/>
                <a:ea typeface="Exo 2 Bold"/>
                <a:cs typeface="Exo 2 Bold"/>
                <a:sym typeface="Exo 2 Bold"/>
              </a:rPr>
              <a:t>Ofertas Personalizadas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16112" y="9025009"/>
            <a:ext cx="760050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2594"/>
                </a:solidFill>
                <a:latin typeface="Exo 2"/>
                <a:ea typeface="Exo 2"/>
                <a:cs typeface="Exo 2"/>
                <a:sym typeface="Exo 2"/>
              </a:rPr>
              <a:t>Envio automático e segmentado das promoções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81225" y="6829179"/>
            <a:ext cx="6405212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2594"/>
                </a:solidFill>
                <a:latin typeface="Exo 2"/>
                <a:ea typeface="Exo 2"/>
                <a:cs typeface="Exo 2"/>
                <a:sym typeface="Exo 2"/>
              </a:rPr>
              <a:t>Reconhecimento de eventos relevantes para o cliente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1225" y="4634235"/>
            <a:ext cx="713290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2594"/>
                </a:solidFill>
                <a:latin typeface="Exo 2"/>
                <a:ea typeface="Exo 2"/>
                <a:cs typeface="Exo 2"/>
                <a:sym typeface="Exo 2"/>
              </a:rPr>
              <a:t>Integração com eventos culturais, esportivos e tradicionais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94752" y="586153"/>
            <a:ext cx="8910164" cy="2319836"/>
            <a:chOff x="0" y="209550"/>
            <a:chExt cx="11880219" cy="3093114"/>
          </a:xfrm>
        </p:grpSpPr>
        <p:sp>
          <p:nvSpPr>
            <p:cNvPr id="9" name="TextBox 9"/>
            <p:cNvSpPr txBox="1"/>
            <p:nvPr/>
          </p:nvSpPr>
          <p:spPr>
            <a:xfrm>
              <a:off x="0" y="1126035"/>
              <a:ext cx="11880219" cy="1111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ln w="38100">
                    <a:solidFill>
                      <a:srgbClr val="002594"/>
                    </a:solidFill>
                  </a:ln>
                  <a:solidFill>
                    <a:srgbClr val="002594">
                      <a:alpha val="0"/>
                    </a:srgbClr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INTELIGENTE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09550"/>
              <a:ext cx="11880219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SUGESTÃO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033934"/>
              <a:ext cx="11880219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DE VIAGEM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3374" y="3889608"/>
            <a:ext cx="1319831" cy="1092577"/>
            <a:chOff x="0" y="0"/>
            <a:chExt cx="1759774" cy="1456769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106476" cy="1106476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0"/>
                <a:ext cx="812800" cy="908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51059" y="313604"/>
              <a:ext cx="1608715" cy="1143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99"/>
                </a:lnSpc>
              </a:pPr>
              <a:r>
                <a:rPr lang="en-US" sz="5908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3374" y="6086864"/>
            <a:ext cx="1319831" cy="1092577"/>
            <a:chOff x="0" y="0"/>
            <a:chExt cx="1759774" cy="1456769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106476" cy="1106476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0"/>
                <a:ext cx="812800" cy="908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51059" y="313604"/>
              <a:ext cx="1608715" cy="1143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99"/>
                </a:lnSpc>
              </a:pPr>
              <a:r>
                <a:rPr lang="en-US" sz="5908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83374" y="8338198"/>
            <a:ext cx="829857" cy="82985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2594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96669" y="8587688"/>
            <a:ext cx="1206536" cy="843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5908" b="1">
                <a:solidFill>
                  <a:srgbClr val="002594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70" y="-567077"/>
            <a:ext cx="11286528" cy="12052355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-1543050" y="906063"/>
            <a:ext cx="3086100" cy="1522852"/>
            <a:chOff x="0" y="0"/>
            <a:chExt cx="812800" cy="4010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01080"/>
            </a:xfrm>
            <a:custGeom>
              <a:avLst/>
              <a:gdLst/>
              <a:ahLst/>
              <a:cxnLst/>
              <a:rect l="l" t="t" r="r" b="b"/>
              <a:pathLst>
                <a:path w="812800" h="401080">
                  <a:moveTo>
                    <a:pt x="0" y="0"/>
                  </a:moveTo>
                  <a:lnTo>
                    <a:pt x="609600" y="0"/>
                  </a:lnTo>
                  <a:lnTo>
                    <a:pt x="812800" y="200540"/>
                  </a:lnTo>
                  <a:lnTo>
                    <a:pt x="609600" y="401080"/>
                  </a:lnTo>
                  <a:lnTo>
                    <a:pt x="0" y="401080"/>
                  </a:lnTo>
                  <a:lnTo>
                    <a:pt x="203200" y="200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7800" y="-95250"/>
              <a:ext cx="558800" cy="496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40"/>
                </a:lnSpc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9743" y="670272"/>
            <a:ext cx="7452831" cy="8817434"/>
          </a:xfrm>
          <a:custGeom>
            <a:avLst/>
            <a:gdLst/>
            <a:ahLst/>
            <a:cxnLst/>
            <a:rect l="l" t="t" r="r" b="b"/>
            <a:pathLst>
              <a:path w="7452831" h="8817434">
                <a:moveTo>
                  <a:pt x="0" y="0"/>
                </a:moveTo>
                <a:lnTo>
                  <a:pt x="7452831" y="0"/>
                </a:lnTo>
                <a:lnTo>
                  <a:pt x="7452831" y="8817433"/>
                </a:lnTo>
                <a:lnTo>
                  <a:pt x="0" y="8817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8349821" y="3145058"/>
            <a:ext cx="3956235" cy="1878330"/>
            <a:chOff x="0" y="0"/>
            <a:chExt cx="5274979" cy="2504440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5271940" cy="137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3399" b="1">
                  <a:solidFill>
                    <a:srgbClr val="002594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Melhoria na Recompra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76350"/>
              <a:ext cx="5274979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0"/>
                </a:lnSpc>
              </a:pPr>
              <a:r>
                <a:rPr lang="en-US" sz="2400">
                  <a:solidFill>
                    <a:srgbClr val="002594"/>
                  </a:solidFill>
                  <a:latin typeface="Exo 2"/>
                  <a:ea typeface="Exo 2"/>
                  <a:cs typeface="Exo 2"/>
                  <a:sym typeface="Exo 2"/>
                </a:rPr>
                <a:t>Taxas de compra repetida mais elevadas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225558" y="5842538"/>
            <a:ext cx="4325452" cy="1878330"/>
            <a:chOff x="0" y="0"/>
            <a:chExt cx="5767270" cy="2504440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5651578" cy="137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3399" b="1">
                  <a:solidFill>
                    <a:srgbClr val="002594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Experiência do Usuário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2685" y="1276350"/>
              <a:ext cx="5614584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0"/>
                </a:lnSpc>
              </a:pPr>
              <a:r>
                <a:rPr lang="en-US" sz="2400">
                  <a:solidFill>
                    <a:srgbClr val="002594"/>
                  </a:solidFill>
                  <a:latin typeface="Exo 2"/>
                  <a:ea typeface="Exo 2"/>
                  <a:cs typeface="Exo 2"/>
                  <a:sym typeface="Exo 2"/>
                </a:rPr>
                <a:t>Jornadas personalizadas e relevantes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386679" y="3145058"/>
            <a:ext cx="4164331" cy="1878330"/>
            <a:chOff x="0" y="0"/>
            <a:chExt cx="5552441" cy="250444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552441" cy="137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3399" b="1">
                  <a:solidFill>
                    <a:srgbClr val="002594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Aumento da Retenção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2071" y="1276350"/>
              <a:ext cx="5340370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0"/>
                </a:lnSpc>
              </a:pPr>
              <a:r>
                <a:rPr lang="en-US" sz="2400">
                  <a:solidFill>
                    <a:srgbClr val="002594"/>
                  </a:solidFill>
                  <a:latin typeface="Exo 2"/>
                  <a:ea typeface="Exo 2"/>
                  <a:cs typeface="Exo 2"/>
                  <a:sym typeface="Exo 2"/>
                </a:rPr>
                <a:t>Clientes mais engajados e fidelizados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82327" y="5842538"/>
            <a:ext cx="4238684" cy="1878330"/>
            <a:chOff x="0" y="0"/>
            <a:chExt cx="5651578" cy="250444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651578" cy="137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3399" b="1">
                  <a:solidFill>
                    <a:srgbClr val="002594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Crescimento de Vendas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994" y="1276350"/>
              <a:ext cx="5614584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0"/>
                </a:lnSpc>
              </a:pPr>
              <a:r>
                <a:rPr lang="en-US" sz="2400">
                  <a:solidFill>
                    <a:srgbClr val="002594"/>
                  </a:solidFill>
                  <a:latin typeface="Exo 2"/>
                  <a:ea typeface="Exo 2"/>
                  <a:cs typeface="Exo 2"/>
                  <a:sym typeface="Exo 2"/>
                </a:rPr>
                <a:t>Impulso significativo na receita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92902" y="827435"/>
            <a:ext cx="10566398" cy="1520926"/>
            <a:chOff x="0" y="209550"/>
            <a:chExt cx="14088531" cy="2027901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26035"/>
              <a:ext cx="14088531" cy="1111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ln w="38100">
                    <a:solidFill>
                      <a:srgbClr val="002594"/>
                    </a:solidFill>
                  </a:ln>
                  <a:solidFill>
                    <a:srgbClr val="002594">
                      <a:alpha val="0"/>
                    </a:srgbClr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ESPERADO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09550"/>
              <a:ext cx="14088531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BENEFÍCIOS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06056" y="5918738"/>
            <a:ext cx="1341079" cy="670540"/>
            <a:chOff x="0" y="0"/>
            <a:chExt cx="812800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800" y="-95250"/>
              <a:ext cx="5588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06056" y="3145058"/>
            <a:ext cx="1341079" cy="670540"/>
            <a:chOff x="0" y="0"/>
            <a:chExt cx="812800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7800" y="-95250"/>
              <a:ext cx="5588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96832" y="3145058"/>
            <a:ext cx="1341079" cy="670540"/>
            <a:chOff x="0" y="0"/>
            <a:chExt cx="812800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7800" y="-95250"/>
              <a:ext cx="5588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4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396832" y="5918738"/>
            <a:ext cx="1341079" cy="670540"/>
            <a:chOff x="0" y="0"/>
            <a:chExt cx="812800" cy="406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9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7800" y="-95250"/>
              <a:ext cx="5588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40"/>
                </a:lnSpc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18" y="4569808"/>
            <a:ext cx="15807522" cy="5516808"/>
            <a:chOff x="24" y="0"/>
            <a:chExt cx="21076696" cy="7355743"/>
          </a:xfrm>
        </p:grpSpPr>
        <p:sp>
          <p:nvSpPr>
            <p:cNvPr id="3" name="Freeform 3"/>
            <p:cNvSpPr/>
            <p:nvPr/>
          </p:nvSpPr>
          <p:spPr>
            <a:xfrm>
              <a:off x="3831111" y="0"/>
              <a:ext cx="1385179" cy="1385179"/>
            </a:xfrm>
            <a:custGeom>
              <a:avLst/>
              <a:gdLst/>
              <a:ahLst/>
              <a:cxnLst/>
              <a:rect l="l" t="t" r="r" b="b"/>
              <a:pathLst>
                <a:path w="1385179" h="1385179">
                  <a:moveTo>
                    <a:pt x="0" y="0"/>
                  </a:moveTo>
                  <a:lnTo>
                    <a:pt x="1385178" y="0"/>
                  </a:lnTo>
                  <a:lnTo>
                    <a:pt x="1385178" y="1385179"/>
                  </a:lnTo>
                  <a:lnTo>
                    <a:pt x="0" y="1385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6523854" y="9801"/>
              <a:ext cx="1375378" cy="1375378"/>
            </a:xfrm>
            <a:custGeom>
              <a:avLst/>
              <a:gdLst/>
              <a:ahLst/>
              <a:cxnLst/>
              <a:rect l="l" t="t" r="r" b="b"/>
              <a:pathLst>
                <a:path w="1375378" h="1375378">
                  <a:moveTo>
                    <a:pt x="0" y="0"/>
                  </a:moveTo>
                  <a:lnTo>
                    <a:pt x="1375378" y="0"/>
                  </a:lnTo>
                  <a:lnTo>
                    <a:pt x="1375378" y="1375378"/>
                  </a:lnTo>
                  <a:lnTo>
                    <a:pt x="0" y="137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Freeform 5"/>
            <p:cNvSpPr/>
            <p:nvPr/>
          </p:nvSpPr>
          <p:spPr>
            <a:xfrm>
              <a:off x="9206797" y="9801"/>
              <a:ext cx="1387173" cy="1375378"/>
            </a:xfrm>
            <a:custGeom>
              <a:avLst/>
              <a:gdLst/>
              <a:ahLst/>
              <a:cxnLst/>
              <a:rect l="l" t="t" r="r" b="b"/>
              <a:pathLst>
                <a:path w="1387173" h="1375378">
                  <a:moveTo>
                    <a:pt x="0" y="0"/>
                  </a:moveTo>
                  <a:lnTo>
                    <a:pt x="1387173" y="0"/>
                  </a:lnTo>
                  <a:lnTo>
                    <a:pt x="1387173" y="1375378"/>
                  </a:lnTo>
                  <a:lnTo>
                    <a:pt x="0" y="137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296" r="-44133" b="-424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>
              <a:off x="15660217" y="0"/>
              <a:ext cx="2361004" cy="1375378"/>
            </a:xfrm>
            <a:custGeom>
              <a:avLst/>
              <a:gdLst/>
              <a:ahLst/>
              <a:cxnLst/>
              <a:rect l="l" t="t" r="r" b="b"/>
              <a:pathLst>
                <a:path w="2361004" h="1375378">
                  <a:moveTo>
                    <a:pt x="0" y="0"/>
                  </a:moveTo>
                  <a:lnTo>
                    <a:pt x="2361004" y="0"/>
                  </a:lnTo>
                  <a:lnTo>
                    <a:pt x="2361004" y="1375378"/>
                  </a:lnTo>
                  <a:lnTo>
                    <a:pt x="0" y="137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161" t="-36922" r="-14577" b="-39779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reeform 7"/>
            <p:cNvSpPr/>
            <p:nvPr/>
          </p:nvSpPr>
          <p:spPr>
            <a:xfrm>
              <a:off x="11904535" y="9801"/>
              <a:ext cx="2445117" cy="1375378"/>
            </a:xfrm>
            <a:custGeom>
              <a:avLst/>
              <a:gdLst/>
              <a:ahLst/>
              <a:cxnLst/>
              <a:rect l="l" t="t" r="r" b="b"/>
              <a:pathLst>
                <a:path w="2445117" h="1375378">
                  <a:moveTo>
                    <a:pt x="0" y="0"/>
                  </a:moveTo>
                  <a:lnTo>
                    <a:pt x="2445117" y="0"/>
                  </a:lnTo>
                  <a:lnTo>
                    <a:pt x="2445117" y="1375378"/>
                  </a:lnTo>
                  <a:lnTo>
                    <a:pt x="0" y="137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19331786" y="9801"/>
              <a:ext cx="1375378" cy="1375378"/>
            </a:xfrm>
            <a:custGeom>
              <a:avLst/>
              <a:gdLst/>
              <a:ahLst/>
              <a:cxnLst/>
              <a:rect l="l" t="t" r="r" b="b"/>
              <a:pathLst>
                <a:path w="1375378" h="1375378">
                  <a:moveTo>
                    <a:pt x="0" y="0"/>
                  </a:moveTo>
                  <a:lnTo>
                    <a:pt x="1375378" y="0"/>
                  </a:lnTo>
                  <a:lnTo>
                    <a:pt x="1375378" y="1375378"/>
                  </a:lnTo>
                  <a:lnTo>
                    <a:pt x="0" y="137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36587" y="1418351"/>
              <a:ext cx="1507164" cy="9027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31"/>
                </a:lnSpc>
              </a:pPr>
              <a:r>
                <a:rPr lang="en-US" sz="1951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CLIKBUS</a:t>
              </a:r>
            </a:p>
            <a:p>
              <a:pPr algn="ctr">
                <a:lnSpc>
                  <a:spcPts val="2731"/>
                </a:lnSpc>
              </a:pPr>
              <a:r>
                <a:rPr lang="en-US" sz="1951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(ATUAL)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188859" y="1327753"/>
              <a:ext cx="1661232" cy="902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1"/>
                </a:lnSpc>
              </a:pPr>
              <a:r>
                <a:rPr lang="en-US" sz="1951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CLIKBUS</a:t>
              </a:r>
            </a:p>
            <a:p>
              <a:pPr algn="ctr">
                <a:lnSpc>
                  <a:spcPts val="2731"/>
                </a:lnSpc>
              </a:pPr>
              <a:r>
                <a:rPr lang="en-US" sz="1951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(PROJETO)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83101" y="1370596"/>
              <a:ext cx="1056883" cy="4421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1"/>
                </a:lnSpc>
              </a:pPr>
              <a:r>
                <a:rPr lang="en-US" sz="1951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BUSER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18777" y="1337554"/>
              <a:ext cx="1763212" cy="902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1"/>
                </a:lnSpc>
              </a:pPr>
              <a:r>
                <a:rPr lang="en-US" sz="1951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QUERO</a:t>
              </a:r>
            </a:p>
            <a:p>
              <a:pPr algn="ctr">
                <a:lnSpc>
                  <a:spcPts val="2731"/>
                </a:lnSpc>
              </a:pPr>
              <a:r>
                <a:rPr lang="en-US" sz="1951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PASSAGEM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079007" y="1451393"/>
              <a:ext cx="2292025" cy="9027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31"/>
                </a:lnSpc>
              </a:pPr>
              <a:r>
                <a:rPr lang="en-US" sz="1951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RODOVIARIA</a:t>
              </a:r>
            </a:p>
            <a:p>
              <a:pPr algn="ctr">
                <a:lnSpc>
                  <a:spcPts val="2731"/>
                </a:lnSpc>
              </a:pPr>
              <a:r>
                <a:rPr lang="en-US" sz="1951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ONLINE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04349" y="1451393"/>
              <a:ext cx="2472739" cy="4421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1"/>
                </a:lnSpc>
              </a:pPr>
              <a:r>
                <a:rPr lang="en-US" sz="1951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BUSCA ÔNIBUS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858" y="860917"/>
              <a:ext cx="3299270" cy="638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17"/>
                </a:lnSpc>
              </a:pPr>
              <a:r>
                <a:rPr lang="en-US" sz="2869" b="1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PLATAFORMA</a:t>
              </a:r>
            </a:p>
          </p:txBody>
        </p:sp>
        <p:sp>
          <p:nvSpPr>
            <p:cNvPr id="16" name="AutoShape 16"/>
            <p:cNvSpPr/>
            <p:nvPr/>
          </p:nvSpPr>
          <p:spPr>
            <a:xfrm flipV="1">
              <a:off x="44835" y="2354165"/>
              <a:ext cx="21031884" cy="2243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AutoShape 17"/>
            <p:cNvSpPr/>
            <p:nvPr/>
          </p:nvSpPr>
          <p:spPr>
            <a:xfrm flipV="1">
              <a:off x="21076719" y="24943"/>
              <a:ext cx="0" cy="733080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AutoShape 18"/>
            <p:cNvSpPr/>
            <p:nvPr/>
          </p:nvSpPr>
          <p:spPr>
            <a:xfrm flipH="1" flipV="1">
              <a:off x="22406" y="0"/>
              <a:ext cx="24" cy="7355743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47167" y="24943"/>
              <a:ext cx="21029552" cy="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167" y="4252235"/>
              <a:ext cx="3494651" cy="1078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0"/>
                </a:lnSpc>
              </a:pPr>
              <a:r>
                <a:rPr lang="en-US" sz="2350" b="1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RECOMENDAÇÃO </a:t>
              </a:r>
            </a:p>
            <a:p>
              <a:pPr algn="ctr">
                <a:lnSpc>
                  <a:spcPts val="3290"/>
                </a:lnSpc>
              </a:pPr>
              <a:r>
                <a:rPr lang="en-US" sz="2350" b="1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INTELIGENTE</a:t>
              </a:r>
            </a:p>
          </p:txBody>
        </p:sp>
        <p:sp>
          <p:nvSpPr>
            <p:cNvPr id="21" name="AutoShape 21"/>
            <p:cNvSpPr/>
            <p:nvPr/>
          </p:nvSpPr>
          <p:spPr>
            <a:xfrm flipV="1">
              <a:off x="3541818" y="24943"/>
              <a:ext cx="22430" cy="733080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AutoShape 22"/>
            <p:cNvSpPr/>
            <p:nvPr/>
          </p:nvSpPr>
          <p:spPr>
            <a:xfrm flipV="1">
              <a:off x="5970776" y="24943"/>
              <a:ext cx="0" cy="733080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AutoShape 23"/>
            <p:cNvSpPr/>
            <p:nvPr/>
          </p:nvSpPr>
          <p:spPr>
            <a:xfrm flipV="1">
              <a:off x="8426827" y="24943"/>
              <a:ext cx="0" cy="733080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AutoShape 24"/>
            <p:cNvSpPr/>
            <p:nvPr/>
          </p:nvSpPr>
          <p:spPr>
            <a:xfrm flipV="1">
              <a:off x="11277509" y="24943"/>
              <a:ext cx="0" cy="733080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AutoShape 25"/>
            <p:cNvSpPr/>
            <p:nvPr/>
          </p:nvSpPr>
          <p:spPr>
            <a:xfrm flipV="1">
              <a:off x="15112986" y="24943"/>
              <a:ext cx="0" cy="733080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AutoShape 26"/>
            <p:cNvSpPr/>
            <p:nvPr/>
          </p:nvSpPr>
          <p:spPr>
            <a:xfrm flipH="1" flipV="1">
              <a:off x="18676491" y="24943"/>
              <a:ext cx="0" cy="733080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AutoShape 27"/>
            <p:cNvSpPr/>
            <p:nvPr/>
          </p:nvSpPr>
          <p:spPr>
            <a:xfrm flipV="1">
              <a:off x="22430" y="4013881"/>
              <a:ext cx="21031884" cy="2243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AutoShape 28"/>
            <p:cNvSpPr/>
            <p:nvPr/>
          </p:nvSpPr>
          <p:spPr>
            <a:xfrm flipV="1">
              <a:off x="24" y="5673597"/>
              <a:ext cx="21031884" cy="2243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24" y="7355743"/>
              <a:ext cx="21076696" cy="0"/>
            </a:xfrm>
            <a:prstGeom prst="line">
              <a:avLst/>
            </a:prstGeom>
            <a:ln w="4461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4090547" y="2544223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29" y="0"/>
                  </a:lnTo>
                  <a:lnTo>
                    <a:pt x="1353929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4134608" y="4168320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29" y="0"/>
                  </a:lnTo>
                  <a:lnTo>
                    <a:pt x="1353929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4134608" y="5835984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29" y="0"/>
                  </a:lnTo>
                  <a:lnTo>
                    <a:pt x="1353929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6497873" y="2505338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30" y="0"/>
                  </a:lnTo>
                  <a:lnTo>
                    <a:pt x="1353930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9279155" y="2544223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30" y="0"/>
                  </a:lnTo>
                  <a:lnTo>
                    <a:pt x="1353930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2518283" y="2544223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29" y="0"/>
                  </a:lnTo>
                  <a:lnTo>
                    <a:pt x="1353929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6217774" y="2505338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30" y="0"/>
                  </a:lnTo>
                  <a:lnTo>
                    <a:pt x="1353930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6497873" y="4204534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30" y="0"/>
                  </a:lnTo>
                  <a:lnTo>
                    <a:pt x="1353930" y="1379800"/>
                  </a:lnTo>
                  <a:lnTo>
                    <a:pt x="0" y="137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6497873" y="5868850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30" y="0"/>
                  </a:lnTo>
                  <a:lnTo>
                    <a:pt x="1353930" y="1379800"/>
                  </a:lnTo>
                  <a:lnTo>
                    <a:pt x="0" y="137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9279155" y="4204534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30" y="0"/>
                  </a:lnTo>
                  <a:lnTo>
                    <a:pt x="1353930" y="1379800"/>
                  </a:lnTo>
                  <a:lnTo>
                    <a:pt x="0" y="137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9279155" y="5835984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30" y="0"/>
                  </a:lnTo>
                  <a:lnTo>
                    <a:pt x="1353930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12518283" y="4249393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29" y="0"/>
                  </a:lnTo>
                  <a:lnTo>
                    <a:pt x="1353929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12518283" y="5835984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29" y="0"/>
                  </a:lnTo>
                  <a:lnTo>
                    <a:pt x="1353929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16217774" y="4204534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30" y="0"/>
                  </a:lnTo>
                  <a:lnTo>
                    <a:pt x="1353930" y="1379800"/>
                  </a:lnTo>
                  <a:lnTo>
                    <a:pt x="0" y="137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16217774" y="5835984"/>
              <a:ext cx="1353930" cy="1379801"/>
            </a:xfrm>
            <a:custGeom>
              <a:avLst/>
              <a:gdLst/>
              <a:ahLst/>
              <a:cxnLst/>
              <a:rect l="l" t="t" r="r" b="b"/>
              <a:pathLst>
                <a:path w="1353930" h="1379801">
                  <a:moveTo>
                    <a:pt x="0" y="0"/>
                  </a:moveTo>
                  <a:lnTo>
                    <a:pt x="1353930" y="0"/>
                  </a:lnTo>
                  <a:lnTo>
                    <a:pt x="1353930" y="1379801"/>
                  </a:lnTo>
                  <a:lnTo>
                    <a:pt x="0" y="1379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9418445" y="2608840"/>
              <a:ext cx="1172796" cy="1172796"/>
            </a:xfrm>
            <a:custGeom>
              <a:avLst/>
              <a:gdLst/>
              <a:ahLst/>
              <a:cxnLst/>
              <a:rect l="l" t="t" r="r" b="b"/>
              <a:pathLst>
                <a:path w="1172796" h="1172796">
                  <a:moveTo>
                    <a:pt x="0" y="0"/>
                  </a:moveTo>
                  <a:lnTo>
                    <a:pt x="1172796" y="0"/>
                  </a:lnTo>
                  <a:lnTo>
                    <a:pt x="1172796" y="1172796"/>
                  </a:lnTo>
                  <a:lnTo>
                    <a:pt x="0" y="1172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406" y="2631899"/>
              <a:ext cx="3480861" cy="1079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5"/>
                </a:lnSpc>
              </a:pPr>
              <a:r>
                <a:rPr lang="en-US" sz="2346" b="1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ENQUETE DE </a:t>
              </a:r>
            </a:p>
            <a:p>
              <a:pPr algn="ctr">
                <a:lnSpc>
                  <a:spcPts val="3285"/>
                </a:lnSpc>
              </a:pPr>
              <a:r>
                <a:rPr lang="en-US" sz="2346" b="1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PREFERÊNCIA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167" y="5830750"/>
              <a:ext cx="3456100" cy="10192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</a:pPr>
              <a:r>
                <a:rPr lang="en-US" sz="2207" b="1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PERSONALIZAÇÃO </a:t>
              </a:r>
            </a:p>
            <a:p>
              <a:pPr algn="ctr">
                <a:lnSpc>
                  <a:spcPts val="3214"/>
                </a:lnSpc>
              </a:pPr>
              <a:r>
                <a:rPr lang="en-US" sz="2296" b="1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POR EVENTOS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9418445" y="4271823"/>
              <a:ext cx="1172796" cy="1172796"/>
            </a:xfrm>
            <a:custGeom>
              <a:avLst/>
              <a:gdLst/>
              <a:ahLst/>
              <a:cxnLst/>
              <a:rect l="l" t="t" r="r" b="b"/>
              <a:pathLst>
                <a:path w="1172796" h="1172796">
                  <a:moveTo>
                    <a:pt x="0" y="0"/>
                  </a:moveTo>
                  <a:lnTo>
                    <a:pt x="1172796" y="0"/>
                  </a:lnTo>
                  <a:lnTo>
                    <a:pt x="1172796" y="1172796"/>
                  </a:lnTo>
                  <a:lnTo>
                    <a:pt x="0" y="1172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19418445" y="5889248"/>
              <a:ext cx="1172796" cy="1172796"/>
            </a:xfrm>
            <a:custGeom>
              <a:avLst/>
              <a:gdLst/>
              <a:ahLst/>
              <a:cxnLst/>
              <a:rect l="l" t="t" r="r" b="b"/>
              <a:pathLst>
                <a:path w="1172796" h="1172796">
                  <a:moveTo>
                    <a:pt x="0" y="0"/>
                  </a:moveTo>
                  <a:lnTo>
                    <a:pt x="1172796" y="0"/>
                  </a:lnTo>
                  <a:lnTo>
                    <a:pt x="1172796" y="1172796"/>
                  </a:lnTo>
                  <a:lnTo>
                    <a:pt x="0" y="1172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0" name="Freeform 50"/>
          <p:cNvSpPr/>
          <p:nvPr/>
        </p:nvSpPr>
        <p:spPr>
          <a:xfrm>
            <a:off x="13297769" y="576763"/>
            <a:ext cx="3961531" cy="3803070"/>
          </a:xfrm>
          <a:custGeom>
            <a:avLst/>
            <a:gdLst/>
            <a:ahLst/>
            <a:cxnLst/>
            <a:rect l="l" t="t" r="r" b="b"/>
            <a:pathLst>
              <a:path w="3961531" h="3803070">
                <a:moveTo>
                  <a:pt x="0" y="0"/>
                </a:moveTo>
                <a:lnTo>
                  <a:pt x="3961531" y="0"/>
                </a:lnTo>
                <a:lnTo>
                  <a:pt x="3961531" y="3803069"/>
                </a:lnTo>
                <a:lnTo>
                  <a:pt x="0" y="38030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1" name="TextBox 51"/>
          <p:cNvSpPr txBox="1"/>
          <p:nvPr/>
        </p:nvSpPr>
        <p:spPr>
          <a:xfrm>
            <a:off x="1028700" y="2823919"/>
            <a:ext cx="11448504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2594"/>
                </a:solidFill>
                <a:latin typeface="Open Sans"/>
                <a:ea typeface="Open Sans"/>
                <a:cs typeface="Open Sans"/>
                <a:sym typeface="Open Sans"/>
              </a:rPr>
              <a:t>O ClickBus Predict &amp; Engage se destaca por propor um sistema inédito no setor rodoviário digital, combinando inteligência artificial, dados comportamentais e eventos externos para aumentar vendas, retenção e engajamento do usuário.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219764" y="839388"/>
            <a:ext cx="10566398" cy="1520926"/>
            <a:chOff x="0" y="209550"/>
            <a:chExt cx="14088531" cy="2027901"/>
          </a:xfrm>
        </p:grpSpPr>
        <p:sp>
          <p:nvSpPr>
            <p:cNvPr id="53" name="TextBox 53"/>
            <p:cNvSpPr txBox="1"/>
            <p:nvPr/>
          </p:nvSpPr>
          <p:spPr>
            <a:xfrm>
              <a:off x="0" y="1126035"/>
              <a:ext cx="14088531" cy="1111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ln w="38100">
                    <a:solidFill>
                      <a:srgbClr val="002594"/>
                    </a:solidFill>
                  </a:ln>
                  <a:solidFill>
                    <a:srgbClr val="002594">
                      <a:alpha val="0"/>
                    </a:srgbClr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COMPARATIVA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209550"/>
              <a:ext cx="14088531" cy="1268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7200" b="1" spc="-158">
                  <a:solidFill>
                    <a:srgbClr val="002594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ANÁLISE</a:t>
              </a:r>
            </a:p>
          </p:txBody>
        </p:sp>
      </p:grp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1656" y="0"/>
            <a:ext cx="19491312" cy="10287000"/>
          </a:xfrm>
          <a:custGeom>
            <a:avLst/>
            <a:gdLst/>
            <a:ahLst/>
            <a:cxnLst/>
            <a:rect l="l" t="t" r="r" b="b"/>
            <a:pathLst>
              <a:path w="19491312" h="10287000">
                <a:moveTo>
                  <a:pt x="0" y="0"/>
                </a:moveTo>
                <a:lnTo>
                  <a:pt x="19491312" y="0"/>
                </a:lnTo>
                <a:lnTo>
                  <a:pt x="194913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215" b="-13215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2297481" y="670131"/>
            <a:ext cx="13403489" cy="3107794"/>
            <a:chOff x="0" y="238125"/>
            <a:chExt cx="17871319" cy="4143725"/>
          </a:xfrm>
        </p:grpSpPr>
        <p:sp>
          <p:nvSpPr>
            <p:cNvPr id="4" name="TextBox 4"/>
            <p:cNvSpPr txBox="1"/>
            <p:nvPr/>
          </p:nvSpPr>
          <p:spPr>
            <a:xfrm>
              <a:off x="0" y="1296897"/>
              <a:ext cx="17682058" cy="1282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86"/>
                </a:lnSpc>
              </a:pPr>
              <a:r>
                <a:rPr lang="en-US" sz="8317" b="1" spc="-182">
                  <a:ln w="38100">
                    <a:solidFill>
                      <a:schemeClr val="bg1"/>
                    </a:solidFill>
                  </a:ln>
                  <a:solidFill>
                    <a:srgbClr val="FFFFFF">
                      <a:alpha val="0"/>
                    </a:srgbClr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E INOVAÇÃO NO CAMINHO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38125"/>
              <a:ext cx="17682058" cy="1469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86"/>
                </a:lnSpc>
              </a:pPr>
              <a:r>
                <a:rPr lang="en-US" sz="8317" b="1" spc="-182">
                  <a:solidFill>
                    <a:srgbClr val="FFFFFF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COM DADOS NO VOLANTE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306266"/>
              <a:ext cx="17871319" cy="1075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42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522372"/>
              <a:ext cx="17871319" cy="1092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42"/>
                </a:lnSpc>
              </a:pPr>
              <a:r>
                <a:rPr lang="en-US" sz="6158" b="1" spc="-135">
                  <a:solidFill>
                    <a:srgbClr val="FFFFFF"/>
                  </a:solidFill>
                  <a:latin typeface="Exo 2 Ultra-Bold"/>
                  <a:ea typeface="Exo 2 Ultra-Bold"/>
                  <a:cs typeface="Exo 2 Ultra-Bold"/>
                  <a:sym typeface="Exo 2 Ultra-Bold"/>
                </a:rPr>
                <a:t>A ESTRADA ESTÁ SÓ COMEÇANDO ...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0" y="9387840"/>
            <a:ext cx="10566398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7200" b="1" spc="-158">
                <a:solidFill>
                  <a:srgbClr val="FFFFFF"/>
                </a:solidFill>
                <a:latin typeface="Exo 2 Ultra-Bold"/>
                <a:ea typeface="Exo 2 Ultra-Bold"/>
                <a:cs typeface="Exo 2 Ultra-Bold"/>
                <a:sym typeface="Exo 2 Ultra-Bold"/>
              </a:rPr>
              <a:t>OBRIGADO!</a:t>
            </a:r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57626" y="360208"/>
            <a:ext cx="8944532" cy="9412442"/>
          </a:xfrm>
          <a:custGeom>
            <a:avLst/>
            <a:gdLst/>
            <a:ahLst/>
            <a:cxnLst/>
            <a:rect l="l" t="t" r="r" b="b"/>
            <a:pathLst>
              <a:path w="8944532" h="9412442">
                <a:moveTo>
                  <a:pt x="0" y="0"/>
                </a:moveTo>
                <a:lnTo>
                  <a:pt x="8944532" y="0"/>
                </a:lnTo>
                <a:lnTo>
                  <a:pt x="8944532" y="9412442"/>
                </a:lnTo>
                <a:lnTo>
                  <a:pt x="0" y="9412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07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389313" y="226858"/>
            <a:ext cx="3826125" cy="1206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87"/>
              </a:lnSpc>
            </a:pPr>
            <a:r>
              <a:rPr lang="en-US" sz="7062" b="1">
                <a:solidFill>
                  <a:srgbClr val="0025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RESUMO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89313" y="1585359"/>
            <a:ext cx="5669723" cy="877856"/>
            <a:chOff x="0" y="0"/>
            <a:chExt cx="7559630" cy="1170475"/>
          </a:xfrm>
        </p:grpSpPr>
        <p:sp>
          <p:nvSpPr>
            <p:cNvPr id="5" name="TextBox 5"/>
            <p:cNvSpPr txBox="1"/>
            <p:nvPr/>
          </p:nvSpPr>
          <p:spPr>
            <a:xfrm>
              <a:off x="1574770" y="-38100"/>
              <a:ext cx="5984861" cy="1114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25"/>
                </a:lnSpc>
              </a:pPr>
              <a:r>
                <a:rPr lang="en-US" sz="2446" b="1">
                  <a:solidFill>
                    <a:srgbClr val="00259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Contexto e desafios da ClickBus</a:t>
              </a: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0" y="111669"/>
              <a:ext cx="990152" cy="804206"/>
              <a:chOff x="0" y="0"/>
              <a:chExt cx="1000733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007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000733" h="812800">
                    <a:moveTo>
                      <a:pt x="0" y="0"/>
                    </a:moveTo>
                    <a:lnTo>
                      <a:pt x="1000733" y="0"/>
                    </a:lnTo>
                    <a:lnTo>
                      <a:pt x="100073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95250"/>
                <a:ext cx="1000733" cy="908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35178" y="326640"/>
              <a:ext cx="1439591" cy="843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24"/>
                </a:lnSpc>
              </a:pPr>
              <a:r>
                <a:rPr lang="en-US" sz="4294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89313" y="3891215"/>
            <a:ext cx="5669723" cy="832282"/>
            <a:chOff x="0" y="0"/>
            <a:chExt cx="7559630" cy="1109709"/>
          </a:xfrm>
        </p:grpSpPr>
        <p:sp>
          <p:nvSpPr>
            <p:cNvPr id="11" name="TextBox 11"/>
            <p:cNvSpPr txBox="1"/>
            <p:nvPr/>
          </p:nvSpPr>
          <p:spPr>
            <a:xfrm>
              <a:off x="1435610" y="-38100"/>
              <a:ext cx="6124021" cy="10998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25"/>
                </a:lnSpc>
              </a:pPr>
              <a:r>
                <a:rPr lang="en-US" sz="2446" b="1">
                  <a:solidFill>
                    <a:srgbClr val="00259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Modelo preditivo para recompra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50904"/>
              <a:ext cx="902654" cy="804206"/>
              <a:chOff x="0" y="0"/>
              <a:chExt cx="9123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123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12300" h="812800">
                    <a:moveTo>
                      <a:pt x="0" y="0"/>
                    </a:moveTo>
                    <a:lnTo>
                      <a:pt x="912300" y="0"/>
                    </a:lnTo>
                    <a:lnTo>
                      <a:pt x="9123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95250"/>
                <a:ext cx="912300" cy="908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23233" y="265874"/>
              <a:ext cx="1312377" cy="843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24"/>
                </a:lnSpc>
              </a:pPr>
              <a:r>
                <a:rPr lang="en-US" sz="4294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3.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9313" y="5111181"/>
            <a:ext cx="5669723" cy="796294"/>
            <a:chOff x="0" y="0"/>
            <a:chExt cx="7559630" cy="1061726"/>
          </a:xfrm>
        </p:grpSpPr>
        <p:sp>
          <p:nvSpPr>
            <p:cNvPr id="17" name="TextBox 17"/>
            <p:cNvSpPr txBox="1"/>
            <p:nvPr/>
          </p:nvSpPr>
          <p:spPr>
            <a:xfrm>
              <a:off x="1435610" y="-38100"/>
              <a:ext cx="6124021" cy="10998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25"/>
                </a:lnSpc>
              </a:pPr>
              <a:r>
                <a:rPr lang="en-US" sz="2446" b="1">
                  <a:solidFill>
                    <a:srgbClr val="00259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Enquete e personalização no app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2920"/>
              <a:ext cx="902654" cy="804206"/>
              <a:chOff x="0" y="0"/>
              <a:chExt cx="9123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123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12300" h="812800">
                    <a:moveTo>
                      <a:pt x="0" y="0"/>
                    </a:moveTo>
                    <a:lnTo>
                      <a:pt x="912300" y="0"/>
                    </a:lnTo>
                    <a:lnTo>
                      <a:pt x="9123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0"/>
                <a:ext cx="912300" cy="908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23233" y="217890"/>
              <a:ext cx="1312377" cy="843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24"/>
                </a:lnSpc>
              </a:pPr>
              <a:r>
                <a:rPr lang="en-US" sz="4294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4.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9313" y="6295160"/>
            <a:ext cx="5669723" cy="796294"/>
            <a:chOff x="0" y="0"/>
            <a:chExt cx="7559630" cy="1061726"/>
          </a:xfrm>
        </p:grpSpPr>
        <p:sp>
          <p:nvSpPr>
            <p:cNvPr id="23" name="TextBox 23"/>
            <p:cNvSpPr txBox="1"/>
            <p:nvPr/>
          </p:nvSpPr>
          <p:spPr>
            <a:xfrm>
              <a:off x="1435610" y="-38100"/>
              <a:ext cx="6124021" cy="10998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25"/>
                </a:lnSpc>
              </a:pPr>
              <a:r>
                <a:rPr lang="en-US" sz="2446" b="1">
                  <a:solidFill>
                    <a:srgbClr val="00259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Sugestão Inteligente baseada em eventos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0" y="2920"/>
              <a:ext cx="902654" cy="804206"/>
              <a:chOff x="0" y="0"/>
              <a:chExt cx="9123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123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12300" h="812800">
                    <a:moveTo>
                      <a:pt x="0" y="0"/>
                    </a:moveTo>
                    <a:lnTo>
                      <a:pt x="912300" y="0"/>
                    </a:lnTo>
                    <a:lnTo>
                      <a:pt x="9123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95250"/>
                <a:ext cx="912300" cy="908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23233" y="217890"/>
              <a:ext cx="1312377" cy="843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24"/>
                </a:lnSpc>
              </a:pPr>
              <a:r>
                <a:rPr lang="en-US" sz="4294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5.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89313" y="2706585"/>
            <a:ext cx="5669723" cy="794104"/>
            <a:chOff x="0" y="0"/>
            <a:chExt cx="7559630" cy="1058806"/>
          </a:xfrm>
        </p:grpSpPr>
        <p:sp>
          <p:nvSpPr>
            <p:cNvPr id="29" name="TextBox 29"/>
            <p:cNvSpPr txBox="1"/>
            <p:nvPr/>
          </p:nvSpPr>
          <p:spPr>
            <a:xfrm>
              <a:off x="1279035" y="148296"/>
              <a:ext cx="6280595" cy="5275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25"/>
                </a:lnSpc>
              </a:pPr>
              <a:r>
                <a:rPr lang="en-US" sz="2446" b="1">
                  <a:solidFill>
                    <a:srgbClr val="00259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Publico-Alvo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0" y="0"/>
              <a:ext cx="804206" cy="804206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95250"/>
                <a:ext cx="812800" cy="908050"/>
              </a:xfrm>
              <a:prstGeom prst="rect">
                <a:avLst/>
              </a:prstGeom>
            </p:spPr>
            <p:txBody>
              <a:bodyPr lIns="36922" tIns="36922" rIns="36922" bIns="36922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09792" y="214971"/>
              <a:ext cx="1169243" cy="843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24"/>
                </a:lnSpc>
              </a:pPr>
              <a:r>
                <a:rPr lang="en-US" sz="4294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9313" y="8670155"/>
            <a:ext cx="5669723" cy="796534"/>
            <a:chOff x="0" y="0"/>
            <a:chExt cx="7559630" cy="1062046"/>
          </a:xfrm>
        </p:grpSpPr>
        <p:sp>
          <p:nvSpPr>
            <p:cNvPr id="35" name="TextBox 35"/>
            <p:cNvSpPr txBox="1"/>
            <p:nvPr/>
          </p:nvSpPr>
          <p:spPr>
            <a:xfrm>
              <a:off x="1279035" y="-38100"/>
              <a:ext cx="6280595" cy="10998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25"/>
                </a:lnSpc>
              </a:pPr>
              <a:r>
                <a:rPr lang="en-US" sz="2446" b="1">
                  <a:solidFill>
                    <a:srgbClr val="00259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analise competitiva ClickBus Predict &amp; Engage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0" y="3240"/>
              <a:ext cx="804206" cy="804206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95250"/>
                <a:ext cx="812800" cy="908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109792" y="218211"/>
              <a:ext cx="1169243" cy="843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24"/>
                </a:lnSpc>
              </a:pPr>
              <a:r>
                <a:rPr lang="en-US" sz="4294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7.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89313" y="7481979"/>
            <a:ext cx="5669723" cy="796534"/>
            <a:chOff x="0" y="0"/>
            <a:chExt cx="7559630" cy="1062046"/>
          </a:xfrm>
        </p:grpSpPr>
        <p:sp>
          <p:nvSpPr>
            <p:cNvPr id="41" name="TextBox 41"/>
            <p:cNvSpPr txBox="1"/>
            <p:nvPr/>
          </p:nvSpPr>
          <p:spPr>
            <a:xfrm>
              <a:off x="1279035" y="-38100"/>
              <a:ext cx="6280595" cy="10998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25"/>
                </a:lnSpc>
              </a:pPr>
              <a:r>
                <a:rPr lang="en-US" sz="2446" b="1">
                  <a:solidFill>
                    <a:srgbClr val="00259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Benefícios e resultados esperados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0" y="3240"/>
              <a:ext cx="804206" cy="804206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259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95250"/>
                <a:ext cx="812800" cy="908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109792" y="218211"/>
              <a:ext cx="1169243" cy="843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24"/>
                </a:lnSpc>
              </a:pPr>
              <a:r>
                <a:rPr lang="en-US" sz="4294" b="1">
                  <a:solidFill>
                    <a:srgbClr val="002594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6.</a:t>
              </a:r>
            </a:p>
          </p:txBody>
        </p:sp>
      </p:grp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Office PowerPoint</Application>
  <PresentationFormat>Personalizar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3" baseType="lpstr">
      <vt:lpstr>Exo 2</vt:lpstr>
      <vt:lpstr>Exo 2 Bold</vt:lpstr>
      <vt:lpstr>Arial</vt:lpstr>
      <vt:lpstr>Exo 2 Ultra-Bold</vt:lpstr>
      <vt:lpstr>Roboto Slab</vt:lpstr>
      <vt:lpstr>Calibri</vt:lpstr>
      <vt:lpstr>Open Sans Bold</vt:lpstr>
      <vt:lpstr>Open Sans</vt:lpstr>
      <vt:lpstr>Roboto Slab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EC_Sprint_1_1TSCO_ideacaoprojeto_&lt;nome_projeto&gt;_&lt;squad&gt;</dc:title>
  <cp:lastModifiedBy>João Henrique Arantes Vieira</cp:lastModifiedBy>
  <cp:revision>5</cp:revision>
  <dcterms:created xsi:type="dcterms:W3CDTF">2006-08-16T00:00:00Z</dcterms:created>
  <dcterms:modified xsi:type="dcterms:W3CDTF">2025-05-20T17:10:49Z</dcterms:modified>
  <dc:identifier>DAGnAAFFS4s</dc:identifier>
</cp:coreProperties>
</file>